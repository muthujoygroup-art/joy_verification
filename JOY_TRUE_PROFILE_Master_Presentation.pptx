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85800"/>
            <a:ext cx="10728655" cy="548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590" y="1005840"/>
            <a:ext cx="1371600" cy="1586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4688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Times New Roman"/>
              </a:rPr>
              <a:t>JOY TRUE PROFILE</a:t>
            </a:r>
          </a:p>
          <a:p>
            <a:pPr algn="ctr">
              <a:spcBef>
                <a:spcPts val="800"/>
              </a:spcBef>
            </a:pPr>
            <a:r>
              <a:rPr sz="1700" b="1">
                <a:solidFill>
                  <a:srgbClr val="2563EB"/>
                </a:solidFill>
                <a:latin typeface="Times New Roman"/>
              </a:rPr>
              <a:t>Next-Generation Automated Workforce &amp; Vendor Verification Platform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Times New Roman"/>
              </a:rPr>
              <a:t>Sub-45-Second Direct Government Verification • 100% Tamper-Proof • Frictionless Digital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343400"/>
            <a:ext cx="233172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59669"/>
                </a:solidFill>
                <a:latin typeface="Times New Roman"/>
              </a:rPr>
              <a:t>⚡ Sub-45-Sec Speed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4343400"/>
            <a:ext cx="233172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563EB"/>
                </a:solidFill>
                <a:latin typeface="Times New Roman"/>
              </a:rPr>
              <a:t>🔒 100% DPDP 2023 &amp; ISO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43400"/>
            <a:ext cx="2331720" cy="5029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7C3AED"/>
                </a:solidFill>
                <a:latin typeface="Times New Roman"/>
              </a:rPr>
              <a:t>🏛️ Direct Govt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343400"/>
            <a:ext cx="233172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D97706"/>
                </a:solidFill>
                <a:latin typeface="Times New Roman"/>
              </a:rPr>
              <a:t>📜 Tamper-Proof Cert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64748B"/>
                </a:solidFill>
                <a:latin typeface="Times New Roman"/>
              </a:rPr>
              <a:t>JOY CORPORATE SOLUTIONS PRIVATE LIMITED  •  ENTERPRISE ARCHITECTURE DECK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1 / 17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THE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Times New Roman"/>
              </a:rPr>
              <a:t>The Problem: The Hidden Crisis in Manual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60604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423160" cy="5486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DC2626"/>
                </a:solidFill>
                <a:latin typeface="Times New Roman"/>
              </a:rPr>
              <a:t>⏳ Painful Delays (2-3 Weeks)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Slow Turnaround: </a:t>
            </a:r>
            <a:r>
              <a:rPr sz="900">
                <a:solidFill>
                  <a:srgbClr val="1E293B"/>
                </a:solidFill>
                <a:latin typeface="Times New Roman"/>
              </a:rPr>
              <a:t>Traditional manual checks take 14 to 21 business days.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Lost Candidates: </a:t>
            </a:r>
            <a:r>
              <a:rPr sz="900">
                <a:solidFill>
                  <a:srgbClr val="1E293B"/>
                </a:solidFill>
                <a:latin typeface="Times New Roman"/>
              </a:rPr>
              <a:t>Over 35% of top candidates drop off while waiting for clearance.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Recruiter Burden: </a:t>
            </a:r>
            <a:r>
              <a:rPr sz="900">
                <a:solidFill>
                  <a:srgbClr val="1E293B"/>
                </a:solidFill>
                <a:latin typeface="Times New Roman"/>
              </a:rPr>
              <a:t>HR spends endless hours manually chasing documents.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60604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423160" cy="5486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D97706"/>
                </a:solidFill>
                <a:latin typeface="Times New Roman"/>
              </a:rPr>
              <a:t>⚠️ Fake &amp; Altered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05740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Counterfeit Papers: </a:t>
            </a:r>
            <a:r>
              <a:rPr sz="900">
                <a:solidFill>
                  <a:srgbClr val="1E293B"/>
                </a:solidFill>
                <a:latin typeface="Times New Roman"/>
              </a:rPr>
              <a:t>High rate of forged experience letters and marksheets.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Undetected Moonlighting: </a:t>
            </a:r>
            <a:r>
              <a:rPr sz="900">
                <a:solidFill>
                  <a:srgbClr val="1E293B"/>
                </a:solidFill>
                <a:latin typeface="Times New Roman"/>
              </a:rPr>
              <a:t>Dual employment goes completely unnoticed in manual review.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Visual Check Failure: </a:t>
            </a:r>
            <a:r>
              <a:rPr sz="900">
                <a:solidFill>
                  <a:srgbClr val="1E293B"/>
                </a:solidFill>
                <a:latin typeface="Times New Roman"/>
              </a:rPr>
              <a:t>Human eyes cannot detect digitally edited PDF documents.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25880"/>
            <a:ext cx="260604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2423160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563EB"/>
                </a:solidFill>
                <a:latin typeface="Times New Roman"/>
              </a:rPr>
              <a:t>💸 High Cost &amp; Paperwork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5740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Expensive Agencies: </a:t>
            </a:r>
            <a:r>
              <a:rPr sz="900">
                <a:solidFill>
                  <a:srgbClr val="1E293B"/>
                </a:solidFill>
                <a:latin typeface="Times New Roman"/>
              </a:rPr>
              <a:t>High per-candidate fees paid to manual agency vendors.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Heavy Physical Load: </a:t>
            </a:r>
            <a:r>
              <a:rPr sz="900">
                <a:solidFill>
                  <a:srgbClr val="1E293B"/>
                </a:solidFill>
                <a:latin typeface="Times New Roman"/>
              </a:rPr>
              <a:t>Printing, scanning, physical filing, and courier expenses.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Zero Real-Time Tracking: </a:t>
            </a:r>
            <a:r>
              <a:rPr sz="900">
                <a:solidFill>
                  <a:srgbClr val="1E293B"/>
                </a:solidFill>
                <a:latin typeface="Times New Roman"/>
              </a:rPr>
              <a:t>Recruiters cannot see live progress of ongoing verifications.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25880"/>
            <a:ext cx="260604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15400" y="1417320"/>
            <a:ext cx="2423160" cy="5486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C3AED"/>
                </a:solidFill>
                <a:latin typeface="Times New Roman"/>
              </a:rPr>
              <a:t>⚖️ Severe Compliance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05740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Contractor Violations: </a:t>
            </a:r>
            <a:r>
              <a:rPr sz="900">
                <a:solidFill>
                  <a:srgbClr val="1E293B"/>
                </a:solidFill>
                <a:latin typeface="Times New Roman"/>
              </a:rPr>
              <a:t>Unverified third-party vendor labor risks heavy CLRA fines.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Data Privacy Breach: </a:t>
            </a:r>
            <a:r>
              <a:rPr sz="900">
                <a:solidFill>
                  <a:srgbClr val="1E293B"/>
                </a:solidFill>
                <a:latin typeface="Times New Roman"/>
              </a:rPr>
              <a:t>Handling unencrypted physical documents violates DPDP Act 2023.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Legal Liability: </a:t>
            </a:r>
            <a:r>
              <a:rPr sz="900">
                <a:solidFill>
                  <a:srgbClr val="1E293B"/>
                </a:solidFill>
                <a:latin typeface="Times New Roman"/>
              </a:rPr>
              <a:t>Lack of cryptographic audit trail leaves enterprise exposed.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C2626"/>
                </a:solidFill>
                <a:latin typeface="Times New Roman"/>
              </a:rPr>
              <a:t>🚨 Critical Industry Bottleneck: </a:t>
            </a:r>
            <a:r>
              <a:rPr sz="1050">
                <a:solidFill>
                  <a:srgbClr val="1E293B"/>
                </a:solidFill>
                <a:latin typeface="Times New Roman"/>
              </a:rPr>
              <a:t>Manual verification wastes up to 70% of HR recruiter time on manual document follow-ups, physical phone calls, and error-prone checks — directly causing hiring drop-offs and compliance risks.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2 / 17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THE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Times New Roman"/>
              </a:rPr>
              <a:t>JOY TRUE PROFILE: The Modern Automated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Times New Roman"/>
              </a:rPr>
              <a:t>💡 NEXT-GEN AUTOMATED VERIFICATION ENGINE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Direct Government API Link: </a:t>
            </a:r>
            <a:r>
              <a:rPr sz="1000">
                <a:solidFill>
                  <a:srgbClr val="1E293B"/>
                </a:solidFill>
                <a:latin typeface="Times New Roman"/>
              </a:rPr>
              <a:t>Directly linked to UIDAI, NSDL, EPFO, DigiLocker, and Court registries for sub-45-second live checks.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Frictionless WhatsApp Magic Links: </a:t>
            </a:r>
            <a:r>
              <a:rPr sz="1000">
                <a:solidFill>
                  <a:srgbClr val="1E293B"/>
                </a:solidFill>
                <a:latin typeface="Times New Roman"/>
              </a:rPr>
              <a:t>Candidates receive automated WhatsApp invitation links with 4-digit security PINs for easy smartphone onboarding.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AI Face Liveness &amp; Anti-Spoofing: </a:t>
            </a:r>
            <a:r>
              <a:rPr sz="1000">
                <a:solidFill>
                  <a:srgbClr val="1E293B"/>
                </a:solidFill>
                <a:latin typeface="Times New Roman"/>
              </a:rPr>
              <a:t>3D cranial depth scanning compares candidate's live camera selfie with their official government ID photo in real time.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1-Click Master Dossier PDF: </a:t>
            </a:r>
            <a:r>
              <a:rPr sz="1000">
                <a:solidFill>
                  <a:srgbClr val="1E293B"/>
                </a:solidFill>
                <a:latin typeface="Times New Roman"/>
              </a:rPr>
              <a:t>Automatically generates court-admissible PDF verification dossiers stamped with QR codes and immutable Certificate IDs.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4876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Times New Roman"/>
              </a:rPr>
              <a:t>🌐 5 DEDICATED ROLE-BASED PORTALS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1. Super Admin Console: </a:t>
            </a:r>
            <a:r>
              <a:rPr sz="980">
                <a:solidFill>
                  <a:srgbClr val="1E293B"/>
                </a:solidFill>
                <a:latin typeface="Times New Roman"/>
              </a:rPr>
              <a:t>Platform governance, client contract management, live API latency telemetry, and metered billing.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2. Company Admin Portal: </a:t>
            </a:r>
            <a:r>
              <a:rPr sz="980">
                <a:solidFill>
                  <a:srgbClr val="1E293B"/>
                </a:solidFill>
                <a:latin typeface="Times New Roman"/>
              </a:rPr>
              <a:t>Corporate HQ hub for managing HR team quotas, postpaid 18% GST invoices, and vendor compliance.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3. HR Executive Workstation: </a:t>
            </a:r>
            <a:r>
              <a:rPr sz="980">
                <a:solidFill>
                  <a:srgbClr val="1E293B"/>
                </a:solidFill>
                <a:latin typeface="Times New Roman"/>
              </a:rPr>
              <a:t>Recruiter pipeline with single &amp; 500+ Excel bulk import, live status board, and 1-click dossier download.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4. Candidate Mobile Portal: </a:t>
            </a:r>
            <a:r>
              <a:rPr sz="980">
                <a:solidFill>
                  <a:srgbClr val="1E293B"/>
                </a:solidFill>
                <a:latin typeface="Times New Roman"/>
              </a:rPr>
              <a:t>Frictionless mobile web app with PIN security, Aadhaar OTP e-KYC, and live selfie capture.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5. Vendor &amp; Contractor Portal: </a:t>
            </a:r>
            <a:r>
              <a:rPr sz="980">
                <a:solidFill>
                  <a:srgbClr val="1E293B"/>
                </a:solidFill>
                <a:latin typeface="Times New Roman"/>
              </a:rPr>
              <a:t>B2B vendor onboarding, CLRA labor license tracking, and statutory compliance due diligence.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3 / 17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VERIFICATION SCOPE (EMPLOYEES)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Times New Roman"/>
              </a:rPr>
              <a:t>What We Verify: 100% Comprehensive Employee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747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291840" cy="4389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59669"/>
                </a:solidFill>
                <a:latin typeface="Times New Roman"/>
              </a:rPr>
              <a:t>🆔 1. Aadhaar e-KYC (UIDAI)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92807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Direct UIDAI Gateway: </a:t>
            </a:r>
            <a:r>
              <a:rPr sz="900">
                <a:solidFill>
                  <a:srgbClr val="1E293B"/>
                </a:solidFill>
                <a:latin typeface="Times New Roman"/>
              </a:rPr>
              <a:t>Instant OTP &amp; Biometric demographic validation.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Zero Physical Photocopy: </a:t>
            </a:r>
            <a:r>
              <a:rPr sz="900">
                <a:solidFill>
                  <a:srgbClr val="1E293B"/>
                </a:solidFill>
                <a:latin typeface="Times New Roman"/>
              </a:rPr>
              <a:t>Secure masked 256-bit SHA token authentication.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Speed: </a:t>
            </a:r>
            <a:r>
              <a:rPr sz="900">
                <a:solidFill>
                  <a:srgbClr val="1E293B"/>
                </a:solidFill>
                <a:latin typeface="Times New Roman"/>
              </a:rPr>
              <a:t>Verified instantly in under 10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91840" cy="43891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563EB"/>
                </a:solidFill>
                <a:latin typeface="Times New Roman"/>
              </a:rPr>
              <a:t>💳 2. PAN Tax &amp; Identity (NSDL)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92807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NSDL &amp; ITD Verification: </a:t>
            </a:r>
            <a:r>
              <a:rPr sz="900">
                <a:solidFill>
                  <a:srgbClr val="1E293B"/>
                </a:solidFill>
                <a:latin typeface="Times New Roman"/>
              </a:rPr>
              <a:t>Matches registered name, father's name, and DOB.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Tax Status Check: </a:t>
            </a:r>
            <a:r>
              <a:rPr sz="900">
                <a:solidFill>
                  <a:srgbClr val="1E293B"/>
                </a:solidFill>
                <a:latin typeface="Times New Roman"/>
              </a:rPr>
              <a:t>Confirms active PAN and authenticates tax credentials.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Speed: </a:t>
            </a:r>
            <a:r>
              <a:rPr sz="900">
                <a:solidFill>
                  <a:srgbClr val="1E293B"/>
                </a:solidFill>
                <a:latin typeface="Times New Roman"/>
              </a:rPr>
              <a:t>Verified instantly in under 5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25880"/>
            <a:ext cx="34747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291840" cy="43891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C3AED"/>
                </a:solidFill>
                <a:latin typeface="Times New Roman"/>
              </a:rPr>
              <a:t>🏦 3. Bank Account Penny 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892807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NPCI / IMPS Bank Check: </a:t>
            </a:r>
            <a:r>
              <a:rPr sz="900">
                <a:solidFill>
                  <a:srgbClr val="1E293B"/>
                </a:solidFill>
                <a:latin typeface="Times New Roman"/>
              </a:rPr>
              <a:t>Transfers ₹1 to verify active candidate account.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Exact Name Match: </a:t>
            </a:r>
            <a:r>
              <a:rPr sz="900">
                <a:solidFill>
                  <a:srgbClr val="1E293B"/>
                </a:solidFill>
                <a:latin typeface="Times New Roman"/>
              </a:rPr>
              <a:t>Confirms official account holder name at bank branch.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Zero Salary Reversals: </a:t>
            </a:r>
            <a:r>
              <a:rPr sz="900">
                <a:solidFill>
                  <a:srgbClr val="1E293B"/>
                </a:solidFill>
                <a:latin typeface="Times New Roman"/>
              </a:rPr>
              <a:t>Prevents payroll bounce errors before joining.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4747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840479"/>
            <a:ext cx="3291840" cy="43891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DC2626"/>
                </a:solidFill>
                <a:latin typeface="Times New Roman"/>
              </a:rPr>
              <a:t>🏢 4. Dual Employment &amp; EPFO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15968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EPFO Service History: </a:t>
            </a:r>
            <a:r>
              <a:rPr sz="900">
                <a:solidFill>
                  <a:srgbClr val="1E293B"/>
                </a:solidFill>
                <a:latin typeface="Times New Roman"/>
              </a:rPr>
              <a:t>Pulls authentic UAN employment service timeline.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Moonlighting Detection: </a:t>
            </a:r>
            <a:r>
              <a:rPr sz="900">
                <a:solidFill>
                  <a:srgbClr val="1E293B"/>
                </a:solidFill>
                <a:latin typeface="Times New Roman"/>
              </a:rPr>
              <a:t>Catches overlapping concurrent employment automatically.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Speed: </a:t>
            </a:r>
            <a:r>
              <a:rPr sz="900">
                <a:solidFill>
                  <a:srgbClr val="1E293B"/>
                </a:solidFill>
                <a:latin typeface="Times New Roman"/>
              </a:rPr>
              <a:t>Eliminates months of manual experience letter calls.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749039"/>
            <a:ext cx="34747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40" y="3840479"/>
            <a:ext cx="329184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D97706"/>
                </a:solidFill>
                <a:latin typeface="Times New Roman"/>
              </a:rPr>
              <a:t>🎓 5. Education &amp; Degree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15968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DigiLocker &amp; NAD Hub: </a:t>
            </a:r>
            <a:r>
              <a:rPr sz="900">
                <a:solidFill>
                  <a:srgbClr val="1E293B"/>
                </a:solidFill>
                <a:latin typeface="Times New Roman"/>
              </a:rPr>
              <a:t>Direct digital validation of university certificates.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Accredited Degrees: </a:t>
            </a:r>
            <a:r>
              <a:rPr sz="900">
                <a:solidFill>
                  <a:srgbClr val="1E293B"/>
                </a:solidFill>
                <a:latin typeface="Times New Roman"/>
              </a:rPr>
              <a:t>Validates marksheets, roll numbers, and pass years.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Fraud Prevention: </a:t>
            </a:r>
            <a:r>
              <a:rPr sz="900">
                <a:solidFill>
                  <a:srgbClr val="1E293B"/>
                </a:solidFill>
                <a:latin typeface="Times New Roman"/>
              </a:rPr>
              <a:t>Detects fake certificates from unaccredited mills.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749039"/>
            <a:ext cx="34747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840479"/>
            <a:ext cx="3291840" cy="4389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59669"/>
                </a:solidFill>
                <a:latin typeface="Times New Roman"/>
              </a:rPr>
              <a:t>📸 6. AI 3D Facial Liveness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315968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Biometric Anti-Spoofing: </a:t>
            </a:r>
            <a:r>
              <a:rPr sz="900">
                <a:solidFill>
                  <a:srgbClr val="1E293B"/>
                </a:solidFill>
                <a:latin typeface="Times New Roman"/>
              </a:rPr>
              <a:t>Live webcam scan prevents photo and video playback spoofing.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Aadhaar Photo Match: </a:t>
            </a:r>
            <a:r>
              <a:rPr sz="900">
                <a:solidFill>
                  <a:srgbClr val="1E293B"/>
                </a:solidFill>
                <a:latin typeface="Times New Roman"/>
              </a:rPr>
              <a:t>AI craniofacial engine compares selfie with official ID photo.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Match Score: </a:t>
            </a:r>
            <a:r>
              <a:rPr sz="900">
                <a:solidFill>
                  <a:srgbClr val="1E293B"/>
                </a:solidFill>
                <a:latin typeface="Times New Roman"/>
              </a:rPr>
              <a:t>Delivers 99.4% precision match score in real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4 / 17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VERIFICATION SCOPE (VENDORS &amp; CLRA)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Times New Roman"/>
              </a:rPr>
              <a:t>B2B Vendor &amp; Contractor Due Diligence: 11 Statutory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747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291840" cy="43891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563EB"/>
                </a:solidFill>
                <a:latin typeface="Times New Roman"/>
              </a:rPr>
              <a:t>🏢 1. Corporate MCA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92807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MCA21 Registry: </a:t>
            </a:r>
            <a:r>
              <a:rPr sz="900">
                <a:solidFill>
                  <a:srgbClr val="1E293B"/>
                </a:solidFill>
                <a:latin typeface="Times New Roman"/>
              </a:rPr>
              <a:t>Validates CIN, LLPIN, and incorporation certificates.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Active Status: </a:t>
            </a:r>
            <a:r>
              <a:rPr sz="900">
                <a:solidFill>
                  <a:srgbClr val="1E293B"/>
                </a:solidFill>
                <a:latin typeface="Times New Roman"/>
              </a:rPr>
              <a:t>Confirms company is active, compliant, and not struck off.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Director DIN: </a:t>
            </a:r>
            <a:r>
              <a:rPr sz="900">
                <a:solidFill>
                  <a:srgbClr val="1E293B"/>
                </a:solidFill>
                <a:latin typeface="Times New Roman"/>
              </a:rPr>
              <a:t>Authenticates board directors and signatory credentials.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91840" cy="4389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59669"/>
                </a:solidFill>
                <a:latin typeface="Times New Roman"/>
              </a:rPr>
              <a:t>🧾 2. GSTIN &amp; Tax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92807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GST Portal Direct Link: </a:t>
            </a:r>
            <a:r>
              <a:rPr sz="900">
                <a:solidFill>
                  <a:srgbClr val="1E293B"/>
                </a:solidFill>
                <a:latin typeface="Times New Roman"/>
              </a:rPr>
              <a:t>Validates active GST number and state registration.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Filing Track Record: </a:t>
            </a:r>
            <a:r>
              <a:rPr sz="900">
                <a:solidFill>
                  <a:srgbClr val="1E293B"/>
                </a:solidFill>
                <a:latin typeface="Times New Roman"/>
              </a:rPr>
              <a:t>Monitors regular GSTR-1 and GSTR-3B tax return filings.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Fraud Shield: </a:t>
            </a:r>
            <a:r>
              <a:rPr sz="900">
                <a:solidFill>
                  <a:srgbClr val="1E293B"/>
                </a:solidFill>
                <a:latin typeface="Times New Roman"/>
              </a:rPr>
              <a:t>Prevents dealing with shell or circular-trading vendors.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25880"/>
            <a:ext cx="34747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291840" cy="43891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DC2626"/>
                </a:solidFill>
                <a:latin typeface="Times New Roman"/>
              </a:rPr>
              <a:t>⚖️ 3. CLRA Labor License &amp;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892807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Labor Ministry Registry: </a:t>
            </a:r>
            <a:r>
              <a:rPr sz="900">
                <a:solidFill>
                  <a:srgbClr val="1E293B"/>
                </a:solidFill>
                <a:latin typeface="Times New Roman"/>
              </a:rPr>
              <a:t>Confirms valid Contract Labour (Regulation &amp; Abolition) license.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Workforce Quota: </a:t>
            </a:r>
            <a:r>
              <a:rPr sz="900">
                <a:solidFill>
                  <a:srgbClr val="1E293B"/>
                </a:solidFill>
                <a:latin typeface="Times New Roman"/>
              </a:rPr>
              <a:t>Verifies authorized worker count and site coverage.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Legal Protection: </a:t>
            </a:r>
            <a:r>
              <a:rPr sz="900">
                <a:solidFill>
                  <a:srgbClr val="1E293B"/>
                </a:solidFill>
                <a:latin typeface="Times New Roman"/>
              </a:rPr>
              <a:t>Shields principal employer from statutory contractor fines.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4747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840479"/>
            <a:ext cx="3291840" cy="43891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C3AED"/>
                </a:solidFill>
                <a:latin typeface="Times New Roman"/>
              </a:rPr>
              <a:t>💼 4. Vendor PAN &amp; Financials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15968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Income Tax Validation: </a:t>
            </a:r>
            <a:r>
              <a:rPr sz="900">
                <a:solidFill>
                  <a:srgbClr val="1E293B"/>
                </a:solidFill>
                <a:latin typeface="Times New Roman"/>
              </a:rPr>
              <a:t>Verifies vendor entity PAN and corporate filing.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MSME / Udyam Check: </a:t>
            </a:r>
            <a:r>
              <a:rPr sz="900">
                <a:solidFill>
                  <a:srgbClr val="1E293B"/>
                </a:solidFill>
                <a:latin typeface="Times New Roman"/>
              </a:rPr>
              <a:t>Confirms small business registration and classification.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Tax Clearance: </a:t>
            </a:r>
            <a:r>
              <a:rPr sz="900">
                <a:solidFill>
                  <a:srgbClr val="1E293B"/>
                </a:solidFill>
                <a:latin typeface="Times New Roman"/>
              </a:rPr>
              <a:t>Ensures vendor is in good financial standing.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749039"/>
            <a:ext cx="34747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40" y="3840479"/>
            <a:ext cx="329184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D97706"/>
                </a:solidFill>
                <a:latin typeface="Times New Roman"/>
              </a:rPr>
              <a:t>🏦 5. Vendor Bank Account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15968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Penny Drop Verification: </a:t>
            </a:r>
            <a:r>
              <a:rPr sz="900">
                <a:solidFill>
                  <a:srgbClr val="1E293B"/>
                </a:solidFill>
                <a:latin typeface="Times New Roman"/>
              </a:rPr>
              <a:t>Instant IMPS ping to verify company bank details.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Registered Corporate Name: </a:t>
            </a:r>
            <a:r>
              <a:rPr sz="900">
                <a:solidFill>
                  <a:srgbClr val="1E293B"/>
                </a:solidFill>
                <a:latin typeface="Times New Roman"/>
              </a:rPr>
              <a:t>Matches bank branch records with MCA entity name.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Zero Payment Fraud: </a:t>
            </a:r>
            <a:r>
              <a:rPr sz="900">
                <a:solidFill>
                  <a:srgbClr val="1E293B"/>
                </a:solidFill>
                <a:latin typeface="Times New Roman"/>
              </a:rPr>
              <a:t>Eliminates wrongful vendor payments and diverted invoices.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749039"/>
            <a:ext cx="34747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840479"/>
            <a:ext cx="3291840" cy="4389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59669"/>
                </a:solidFill>
                <a:latin typeface="Times New Roman"/>
              </a:rPr>
              <a:t>📜 6. Master Vendor Compliance Dossier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315968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Consolidated B2B Report: </a:t>
            </a:r>
            <a:r>
              <a:rPr sz="900">
                <a:solidFill>
                  <a:srgbClr val="1E293B"/>
                </a:solidFill>
                <a:latin typeface="Times New Roman"/>
              </a:rPr>
              <a:t>Combines all 11 statutory audits into one master report.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Scannable QR &amp; Digital Seal: </a:t>
            </a:r>
            <a:r>
              <a:rPr sz="900">
                <a:solidFill>
                  <a:srgbClr val="1E293B"/>
                </a:solidFill>
                <a:latin typeface="Times New Roman"/>
              </a:rPr>
              <a:t>Instant mobile QR validation for client audit inspections.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Times New Roman"/>
              </a:rPr>
              <a:t>• Real-Time Status: </a:t>
            </a:r>
            <a:r>
              <a:rPr sz="900">
                <a:solidFill>
                  <a:srgbClr val="1E293B"/>
                </a:solidFill>
                <a:latin typeface="Times New Roman"/>
              </a:rPr>
              <a:t>Live dashboard flags expired vendor licenses immediately.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5 / 17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WORKFLOW SIMPLIFICATION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Times New Roman"/>
              </a:rPr>
              <a:t>How It Dramatically Reduces Your Process &amp; Workload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60604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60220" y="146304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59669"/>
                </a:solidFill>
                <a:latin typeface="Times New Roman"/>
              </a:rPr>
              <a:t>Step 1: HR 1-Click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1E293B"/>
                </a:solidFill>
                <a:latin typeface="Times New Roman"/>
              </a:rPr>
              <a:t>HR Recruiter enters candidate name and mobile, or uploads a 500+ Excel list. The system automatically dispatches WhatsApp magic invitation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25880"/>
            <a:ext cx="260604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57700" y="14630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Times New Roman"/>
              </a:rPr>
              <a:t>Step 2: Candidate Mobile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6974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1E293B"/>
                </a:solidFill>
                <a:latin typeface="Times New Roman"/>
              </a:rPr>
              <a:t>Candidate opens link on smartphone, enters 4-digit security PIN, approves consent, enters Aadhaar OTP, and snaps a 3D live camera selfie.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25880"/>
            <a:ext cx="260604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55180" y="146304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Times New Roman"/>
              </a:rPr>
              <a:t>Step 3: Real-Time Statutory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974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1E293B"/>
                </a:solidFill>
                <a:latin typeface="Times New Roman"/>
              </a:rPr>
              <a:t>Joy True Profile connects to government databases (UIDAI, NSDL, EPFO, Courts) and verifies all credentials in under 45 seconds.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325880"/>
            <a:ext cx="260604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52660" y="146304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103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Times New Roman"/>
              </a:rPr>
              <a:t>Step 4: Tamper-Proof Dossier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6974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1E293B"/>
                </a:solidFill>
                <a:latin typeface="Times New Roman"/>
              </a:rPr>
              <a:t>An official verified PDF report is generated with Certificate ID, QR validation code, and SHA-256 digital stamp ready for 1-click download.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57800"/>
            <a:ext cx="10728655" cy="9144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2180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59669"/>
                </a:solidFill>
                <a:latin typeface="Times New Roman"/>
              </a:rPr>
              <a:t>🎯 Major Work Reduction Impact: </a:t>
            </a:r>
            <a:r>
              <a:rPr sz="1050">
                <a:solidFill>
                  <a:srgbClr val="1E293B"/>
                </a:solidFill>
                <a:latin typeface="Times New Roman"/>
              </a:rPr>
              <a:t>Eliminates 85% of manual HR operational tasks. Zero physical paperwork, no manual data entry, no phone calls to past employers, and instant downloadable PDF dossiers for every hire.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6 / 17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PORTAL ARCHITECTURE (1/5)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Times New Roman"/>
              </a:rPr>
              <a:t>Portal 1: Super Admin Console — Master Platform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3035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Times New Roman"/>
              </a:rPr>
              <a:t>👑 SUPER ADMIN CONSOLE — FEATURES &amp; WORKFLOW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Multi-Company Governance: </a:t>
            </a:r>
            <a:r>
              <a:rPr sz="1000">
                <a:solidFill>
                  <a:srgbClr val="1E293B"/>
                </a:solidFill>
                <a:latin typeface="Times New Roman"/>
              </a:rPr>
              <a:t>Onboard client enterprises, configure service packages, and manage tier access.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Dynamic API Pricing Engine: </a:t>
            </a:r>
            <a:r>
              <a:rPr sz="1000">
                <a:solidFill>
                  <a:srgbClr val="1E293B"/>
                </a:solidFill>
                <a:latin typeface="Times New Roman"/>
              </a:rPr>
              <a:t>Set custom per-check billing rates, volume discounts, and postpaid credits.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Live API Telemetry &amp; Health: </a:t>
            </a:r>
            <a:r>
              <a:rPr sz="1000">
                <a:solidFill>
                  <a:srgbClr val="1E293B"/>
                </a:solidFill>
                <a:latin typeface="Times New Roman"/>
              </a:rPr>
              <a:t>Real-time monitoring of UIDAI, NSDL, EPFO, and Court gateway latencies and uptime.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Postpaid Ledger &amp; Invoicing: </a:t>
            </a:r>
            <a:r>
              <a:rPr sz="1000">
                <a:solidFill>
                  <a:srgbClr val="1E293B"/>
                </a:solidFill>
                <a:latin typeface="Times New Roman"/>
              </a:rPr>
              <a:t>Automated monthly 18% GST tax invoice generation and settlement tracking.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7C3AED"/>
                </a:solidFill>
                <a:latin typeface="Times New Roman"/>
              </a:rPr>
              <a:t>⚙️ Super Admin Operational Workflow: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imes New Roman"/>
              </a:rPr>
              <a:t>1. Add Company ➔ 2. Set Custom Price ➔ 3. Monitor Live API Speed ➔ 4. Oversee Monthly Invoices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l_super_admin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4876495" cy="30478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617720"/>
            <a:ext cx="4876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7C3AED"/>
                </a:solidFill>
                <a:latin typeface="Times New Roman"/>
              </a:rPr>
              <a:t>🖥️ Live Super Admin Workstation View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Direct registry control center monitoring tenant enterprise client activations, gateway latency, and platform security.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7 / 17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PORTAL ARCHITECTURE (2/5)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Times New Roman"/>
              </a:rPr>
              <a:t>Portal 2: Company Admin Portal — Corporate Headquarters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3035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Times New Roman"/>
              </a:rPr>
              <a:t>🏢 COMPANY ADMIN PORTAL — FEATURES &amp; WORKFLOW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Company Profile &amp; Logo: </a:t>
            </a:r>
            <a:r>
              <a:rPr sz="1000">
                <a:solidFill>
                  <a:srgbClr val="1E293B"/>
                </a:solidFill>
                <a:latin typeface="Times New Roman"/>
              </a:rPr>
              <a:t>Upload corporate logo, manage office addresses, CIN, GSTIN, and company PAN.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HR Recruiter Provisioning: </a:t>
            </a:r>
            <a:r>
              <a:rPr sz="1000">
                <a:solidFill>
                  <a:srgbClr val="1E293B"/>
                </a:solidFill>
                <a:latin typeface="Times New Roman"/>
              </a:rPr>
              <a:t>Add and manage HR recruiters, allocate verification quotas, and configure recruiter access.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Postpaid Monthly Billing: </a:t>
            </a:r>
            <a:r>
              <a:rPr sz="1000">
                <a:solidFill>
                  <a:srgbClr val="1E293B"/>
                </a:solidFill>
                <a:latin typeface="Times New Roman"/>
              </a:rPr>
              <a:t>Dashboard showing verified candidates, pending balance, and monthly 18% GST tax invoices.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Contractor Compliance Oversight: </a:t>
            </a:r>
            <a:r>
              <a:rPr sz="1000">
                <a:solidFill>
                  <a:srgbClr val="1E293B"/>
                </a:solidFill>
                <a:latin typeface="Times New Roman"/>
              </a:rPr>
              <a:t>Monitor third-party contractor workforce registers and ensure full statutory labor compliance.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2563EB"/>
                </a:solidFill>
                <a:latin typeface="Times New Roman"/>
              </a:rPr>
              <a:t>⚙️ Company Admin Operational Workflow: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imes New Roman"/>
              </a:rPr>
              <a:t>1. Set Company Logo ➔ 2. Add HR Recruiters ➔ 3. Monitor All Candidate Checks ➔ 4. Pay Monthly 18% GST Bill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l_company_admin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4876495" cy="30478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617720"/>
            <a:ext cx="4876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563EB"/>
                </a:solidFill>
                <a:latin typeface="Times New Roman"/>
              </a:rPr>
              <a:t>🖥️ Live Company Admin Console View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Executive management hub for HR team oversight, branch control, postpaid wallet monitoring, and 1-click tax invoice settlement.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8 / 17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PORTAL ARCHITECTURE (3/5)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Times New Roman"/>
              </a:rPr>
              <a:t>Portal 3: HR Executive Workstation — Recruiter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3035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Times New Roman"/>
              </a:rPr>
              <a:t>👔 HR EXECUTIVE WORKSTATION — FEATURES &amp; WORKFLOW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Single &amp; 500+ Excel Bulk Import: </a:t>
            </a:r>
            <a:r>
              <a:rPr sz="980">
                <a:solidFill>
                  <a:srgbClr val="1E293B"/>
                </a:solidFill>
                <a:latin typeface="Times New Roman"/>
              </a:rPr>
              <a:t>Enter candidate info individually or upload a batch of 500+ candidates using an Excel sheet.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1-Click WhatsApp Magic Links: </a:t>
            </a:r>
            <a:r>
              <a:rPr sz="980">
                <a:solidFill>
                  <a:srgbClr val="1E293B"/>
                </a:solidFill>
                <a:latin typeface="Times New Roman"/>
              </a:rPr>
              <a:t>Send invitation links via WhatsApp and SMS with automatically generated 4-digit security PINs.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Live Candidate Progress Board: </a:t>
            </a:r>
            <a:r>
              <a:rPr sz="980">
                <a:solidFill>
                  <a:srgbClr val="1E293B"/>
                </a:solidFill>
                <a:latin typeface="Times New Roman"/>
              </a:rPr>
              <a:t>Track who has opened the link, who is filling the form, and whose checks are completed in real time.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AI Photo &amp; Face Matching: </a:t>
            </a:r>
            <a:r>
              <a:rPr sz="980">
                <a:solidFill>
                  <a:srgbClr val="1E293B"/>
                </a:solidFill>
                <a:latin typeface="Times New Roman"/>
              </a:rPr>
              <a:t>Compares candidate's live camera selfie with their official Aadhaar photo and shows match percentage.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1-Click Master PDF Dossier: </a:t>
            </a:r>
            <a:r>
              <a:rPr sz="980">
                <a:solidFill>
                  <a:srgbClr val="1E293B"/>
                </a:solidFill>
                <a:latin typeface="Times New Roman"/>
              </a:rPr>
              <a:t>Download the complete verified report stamped with company logo, QR code, and Certificate ID.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59669"/>
                </a:solidFill>
                <a:latin typeface="Times New Roman"/>
              </a:rPr>
              <a:t>⚙️ HR Recruiter Daily Workflow: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E293B"/>
                </a:solidFill>
                <a:latin typeface="Times New Roman"/>
              </a:rPr>
              <a:t>1. Enter Candidate / Excel ➔ 2. Send WhatsApp Link ➔ 3. Watch Live Status ➔ 4. Download PDF Dossier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l_hr_workstation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4876495" cy="30478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617720"/>
            <a:ext cx="4876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59669"/>
                </a:solidFill>
                <a:latin typeface="Times New Roman"/>
              </a:rPr>
              <a:t>🖥️ Live HR Executive Workstation View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Centralized candidate pipeline tracker with real-time status telemetry, instant WhatsApp re-dispatch, and bulk PDF export.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9 / 17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PORTAL ARCHITECTURE (4/5)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Times New Roman"/>
              </a:rPr>
              <a:t>Portal 4: Candidate Portal — Frictionless Mobile Web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8521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Times New Roman"/>
              </a:rPr>
              <a:t>📱 CANDIDATE MOBILE PORTAL — FEATURES &amp; WORKFLOW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Zero App Install Required: </a:t>
            </a:r>
            <a:r>
              <a:rPr sz="980">
                <a:solidFill>
                  <a:srgbClr val="1E293B"/>
                </a:solidFill>
                <a:latin typeface="Times New Roman"/>
              </a:rPr>
              <a:t>Runs purely in any mobile browser (Chrome, Safari, Edge) via responsive web interface.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4-Digit Secure PIN Access: </a:t>
            </a:r>
            <a:r>
              <a:rPr sz="980">
                <a:solidFill>
                  <a:srgbClr val="1E293B"/>
                </a:solidFill>
                <a:latin typeface="Times New Roman"/>
              </a:rPr>
              <a:t>Candidates unlock their verification using a personal 4-digit PIN sent via WhatsApp.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Sub-2-Minute Completion: </a:t>
            </a:r>
            <a:r>
              <a:rPr sz="980">
                <a:solidFill>
                  <a:srgbClr val="1E293B"/>
                </a:solidFill>
                <a:latin typeface="Times New Roman"/>
              </a:rPr>
              <a:t>Fast 4-step wizard: Basic Details ➔ Aadhaar OTP e-KYC ➔ AI Selfie ➔ Instant Submit.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Camera &amp; Liveness Capture: </a:t>
            </a:r>
            <a:r>
              <a:rPr sz="980">
                <a:solidFill>
                  <a:srgbClr val="1E293B"/>
                </a:solidFill>
                <a:latin typeface="Times New Roman"/>
              </a:rPr>
              <a:t>Guided camera captures live selfie with anti-spoofing depth checks.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Consent &amp; Privacy Shield: </a:t>
            </a:r>
            <a:r>
              <a:rPr sz="980">
                <a:solidFill>
                  <a:srgbClr val="1E293B"/>
                </a:solidFill>
                <a:latin typeface="Times New Roman"/>
              </a:rPr>
              <a:t>DPDP Act 2023 compliant consent screen explaining exact data usage.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D97706"/>
                </a:solidFill>
                <a:latin typeface="Times New Roman"/>
              </a:rPr>
              <a:t>⚙️ Candidate Mobile Onboarding Flow: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imes New Roman"/>
              </a:rPr>
              <a:t>1. Open WhatsApp Link ➔ 2. Enter 4-Digit PIN ➔ 3. Enter Aadhaar OTP ➔ 4. Take Selfie &amp; Submit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280160"/>
            <a:ext cx="469361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l_candidate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417320"/>
            <a:ext cx="1927470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0" y="5532120"/>
            <a:ext cx="4327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D97706"/>
                </a:solidFill>
                <a:latin typeface="Times New Roman"/>
              </a:rPr>
              <a:t>📱 Frictionless Mobile Web App: 4-Digit PIN, Aadhaar e-KYC &amp; 3D Selfie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10 / 17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PORTAL ARCHITECTURE (5/5)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Times New Roman"/>
              </a:rPr>
              <a:t>Portal 5: Vendor &amp; Contractor Portal — CLRA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3035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Times New Roman"/>
              </a:rPr>
              <a:t>🤝 VENDOR DUE DILIGENCE — FEATURES &amp; WORKFLOW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B2B Self-Onboarding Studio: </a:t>
            </a:r>
            <a:r>
              <a:rPr sz="1000">
                <a:solidFill>
                  <a:srgbClr val="1E293B"/>
                </a:solidFill>
                <a:latin typeface="Times New Roman"/>
              </a:rPr>
              <a:t>Vendors receive secure registration links to submit company registration numbers and certificates.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11-Point Statutory Verification: </a:t>
            </a:r>
            <a:r>
              <a:rPr sz="1000">
                <a:solidFill>
                  <a:srgbClr val="1E293B"/>
                </a:solidFill>
                <a:latin typeface="Times New Roman"/>
              </a:rPr>
              <a:t>Automated API verification of MCA CIN, LLPIN, GSTIN, Vendor PAN, MSME, and Bank account.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CLRA Labor License Tracking: </a:t>
            </a:r>
            <a:r>
              <a:rPr sz="1000">
                <a:solidFill>
                  <a:srgbClr val="1E293B"/>
                </a:solidFill>
                <a:latin typeface="Times New Roman"/>
              </a:rPr>
              <a:t>Validates contractor labor license numbers, validity periods, and maximum deployed worker count.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Contractor Risk Scoring: </a:t>
            </a:r>
            <a:r>
              <a:rPr sz="1000">
                <a:solidFill>
                  <a:srgbClr val="1E293B"/>
                </a:solidFill>
                <a:latin typeface="Times New Roman"/>
              </a:rPr>
              <a:t>System generates a risk rating for each vendor based on tax filing consistency and legal compliance.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2563EB"/>
                </a:solidFill>
                <a:latin typeface="Times New Roman"/>
              </a:rPr>
              <a:t>⚙️ Vendor Due Diligence Workflow: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imes New Roman"/>
              </a:rPr>
              <a:t>1. Dispatch Vendor Link ➔ 2. Vendor Submits GST/CIN ➔ 3. 11 APIs Verify Instantly ➔ 4. Approve Vendor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l_vendor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4876495" cy="30478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617720"/>
            <a:ext cx="4876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563EB"/>
                </a:solidFill>
                <a:latin typeface="Times New Roman"/>
              </a:rPr>
              <a:t>🖥️ Live Vendor Due Diligence Portal View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Contractor and third-party vendor onboarding console with automated statutory consent, MCA CIN, and GST filing audits.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11 / 17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CERTIFICATE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Times New Roman"/>
              </a:rPr>
              <a:t>Certified Verification Report &amp; Unique Certificate 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3035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Times New Roman"/>
              </a:rPr>
              <a:t>📜 OFFICIAL VERIFICATION CERTIFICATE &amp; ID SYSTEM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Unique Certificate ID: </a:t>
            </a:r>
            <a:r>
              <a:rPr sz="1000">
                <a:solidFill>
                  <a:srgbClr val="1E293B"/>
                </a:solidFill>
                <a:latin typeface="Times New Roman"/>
              </a:rPr>
              <a:t>Every verified candidate receives an immutable, permanent ID (e.g. #JCS-VERIF-2026-101-889) registered in the national registry.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Live Scannable QR Code: </a:t>
            </a:r>
            <a:r>
              <a:rPr sz="1000">
                <a:solidFill>
                  <a:srgbClr val="1E293B"/>
                </a:solidFill>
                <a:latin typeface="Times New Roman"/>
              </a:rPr>
              <a:t>Any recruiter, client auditor, or banking authority can scan the QR code with their mobile phone to instantly view live authenticity records.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SHA-256 Cryptographic Stamp: </a:t>
            </a:r>
            <a:r>
              <a:rPr sz="1000">
                <a:solidFill>
                  <a:srgbClr val="1E293B"/>
                </a:solidFill>
                <a:latin typeface="Times New Roman"/>
              </a:rPr>
              <a:t>Generates a unique cryptographic hash to ensure the PDF report cannot be edited, altered, or forged.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Instant Online Validation: </a:t>
            </a:r>
            <a:r>
              <a:rPr sz="1000">
                <a:solidFill>
                  <a:srgbClr val="1E293B"/>
                </a:solidFill>
                <a:latin typeface="Times New Roman"/>
              </a:rPr>
              <a:t>Eliminates slow back-and-forth emails between companies. Instant paperless verification lookup online.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2563EB"/>
                </a:solidFill>
                <a:latin typeface="Times New Roman"/>
              </a:rPr>
              <a:t>🎯 Key Benefit for Employers &amp; Clients: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100% genuine proof accepted by corporate clients, enterprise auditors, and government regulatory inspectors.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l_project_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2916693" cy="457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464040" y="1508760"/>
            <a:ext cx="1828800" cy="868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🆔 Unique Cert ID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E293B"/>
                </a:solidFill>
                <a:latin typeface="Times New Roman"/>
              </a:rPr>
              <a:t>Permanent Reference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2606039"/>
            <a:ext cx="182880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563EB"/>
                </a:solidFill>
                <a:latin typeface="Times New Roman"/>
              </a:rPr>
              <a:t>🛡️ SHA-256 Hash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E293B"/>
                </a:solidFill>
                <a:latin typeface="Times New Roman"/>
              </a:rPr>
              <a:t>Tamper-Proof Math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3703320"/>
            <a:ext cx="1828800" cy="8686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7C3AED"/>
                </a:solidFill>
                <a:latin typeface="Times New Roman"/>
              </a:rPr>
              <a:t>📲 Live QR Seal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E293B"/>
                </a:solidFill>
                <a:latin typeface="Times New Roman"/>
              </a:rPr>
              <a:t>Instant Phone Scan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4800600"/>
            <a:ext cx="1828800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D97706"/>
                </a:solidFill>
                <a:latin typeface="Times New Roman"/>
              </a:rPr>
              <a:t>🏛️ IT Act, 2000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E293B"/>
                </a:solidFill>
                <a:latin typeface="Times New Roman"/>
              </a:rPr>
              <a:t>Court-Admissible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12 / 17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PLATFORM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Times New Roman"/>
              </a:rPr>
              <a:t>Project Safety &amp; Fraud Prevention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42316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🛡️ 1. Anti-Spoofing &amp; Liveness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3D Cranial Depth Scan: </a:t>
            </a:r>
            <a:r>
              <a:rPr sz="950">
                <a:solidFill>
                  <a:srgbClr val="1E293B"/>
                </a:solidFill>
                <a:latin typeface="Times New Roman"/>
              </a:rPr>
              <a:t>Active biometric liveness detection blocks 2D printed photos and video screen replay attacks.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Micro-Movement Checks: </a:t>
            </a:r>
            <a:r>
              <a:rPr sz="950">
                <a:solidFill>
                  <a:srgbClr val="1E293B"/>
                </a:solidFill>
                <a:latin typeface="Times New Roman"/>
              </a:rPr>
              <a:t>Validates natural human blink, gaze direction, and facial micro-movements in real time.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Immediate Bot Detection: </a:t>
            </a:r>
            <a:r>
              <a:rPr sz="950">
                <a:solidFill>
                  <a:srgbClr val="1E293B"/>
                </a:solidFill>
                <a:latin typeface="Times New Roman"/>
              </a:rPr>
              <a:t>Automated bots and AI deepfakes are immediately rejected by the capture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42316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563EB"/>
                </a:solidFill>
                <a:latin typeface="Times New Roman"/>
              </a:rPr>
              <a:t>🔑 2. Multi-Factor PIN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0312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4-Digit Security PIN: </a:t>
            </a:r>
            <a:r>
              <a:rPr sz="950">
                <a:solidFill>
                  <a:srgbClr val="1E293B"/>
                </a:solidFill>
                <a:latin typeface="Times New Roman"/>
              </a:rPr>
              <a:t>Candidate portal is locked with a unique 4-digit PIN delivered only to candidate's mobile number.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Single-Use Session Links: </a:t>
            </a:r>
            <a:r>
              <a:rPr sz="950">
                <a:solidFill>
                  <a:srgbClr val="1E293B"/>
                </a:solidFill>
                <a:latin typeface="Times New Roman"/>
              </a:rPr>
              <a:t>Magic links expire automatically after 72 hours or once submitted, preventing unauthorized reuse.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Device Fingerprinting: </a:t>
            </a:r>
            <a:r>
              <a:rPr sz="950">
                <a:solidFill>
                  <a:srgbClr val="1E293B"/>
                </a:solidFill>
                <a:latin typeface="Times New Roman"/>
              </a:rPr>
              <a:t>Tracks browser user-agent and IP to prevent third-party link hijacking.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2423160" cy="5943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7C3AED"/>
                </a:solidFill>
                <a:latin typeface="Times New Roman"/>
              </a:rPr>
              <a:t>📑 3. Immutable Audit Trails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SHA-256 Checksum Stamp: </a:t>
            </a:r>
            <a:r>
              <a:rPr sz="950">
                <a:solidFill>
                  <a:srgbClr val="1E293B"/>
                </a:solidFill>
                <a:latin typeface="Times New Roman"/>
              </a:rPr>
              <a:t>Every verified document is stamped with a unique cryptographic checksum that changes if edited.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Tamper Detection: </a:t>
            </a:r>
            <a:r>
              <a:rPr sz="950">
                <a:solidFill>
                  <a:srgbClr val="1E293B"/>
                </a:solidFill>
                <a:latin typeface="Times New Roman"/>
              </a:rPr>
              <a:t>Any alteration to employee particulars or verification status renders the digital certificate invalid.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Time-Stamped Audit Logs: </a:t>
            </a:r>
            <a:r>
              <a:rPr sz="950">
                <a:solidFill>
                  <a:srgbClr val="1E293B"/>
                </a:solidFill>
                <a:latin typeface="Times New Roman"/>
              </a:rPr>
              <a:t>All verification actions are permanently logged with ISO timestamps.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15400" y="1417320"/>
            <a:ext cx="242316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D97706"/>
                </a:solidFill>
                <a:latin typeface="Times New Roman"/>
              </a:rPr>
              <a:t>🚦 4. Rate Limiting &amp; Shield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10312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Brute-Force Protection: </a:t>
            </a:r>
            <a:r>
              <a:rPr sz="950">
                <a:solidFill>
                  <a:srgbClr val="1E293B"/>
                </a:solidFill>
                <a:latin typeface="Times New Roman"/>
              </a:rPr>
              <a:t>Strict API rate limiting stops automated brute-force attacks and credential stuffing.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Bot Challenge Defense: </a:t>
            </a:r>
            <a:r>
              <a:rPr sz="950">
                <a:solidFill>
                  <a:srgbClr val="1E293B"/>
                </a:solidFill>
                <a:latin typeface="Times New Roman"/>
              </a:rPr>
              <a:t>Protects candidate verification portals against automated spam submissions.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Automated Threat Alerts: </a:t>
            </a:r>
            <a:r>
              <a:rPr sz="950">
                <a:solidFill>
                  <a:srgbClr val="1E293B"/>
                </a:solidFill>
                <a:latin typeface="Times New Roman"/>
              </a:rPr>
              <a:t>Security engine flags abnormal request spikes and suspicious geographic IP activity.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13 / 17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DATA SECURITY &amp; DPDP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Times New Roman"/>
              </a:rPr>
              <a:t>Data Security &amp; Privacy: How We Protect &amp; Handle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42316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🔐 1. Zero-Knowledge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No Permanent Storage: </a:t>
            </a:r>
            <a:r>
              <a:rPr sz="950">
                <a:solidFill>
                  <a:srgbClr val="1E293B"/>
                </a:solidFill>
                <a:latin typeface="Times New Roman"/>
              </a:rPr>
              <a:t>JOY TRUE PROFILE acts as a verification pass-through gateway.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Masked PII Identifiers: </a:t>
            </a:r>
            <a:r>
              <a:rPr sz="950">
                <a:solidFill>
                  <a:srgbClr val="1E293B"/>
                </a:solidFill>
                <a:latin typeface="Times New Roman"/>
              </a:rPr>
              <a:t>Sensitive Aadhaar numbers are masked to XXXX-XXXX-1234 before report generation.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Ephemeral Cache: </a:t>
            </a:r>
            <a:r>
              <a:rPr sz="950">
                <a:solidFill>
                  <a:srgbClr val="1E293B"/>
                </a:solidFill>
                <a:latin typeface="Times New Roman"/>
              </a:rPr>
              <a:t>Candidate OTP payloads are scrubbed from RAM immediately after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42316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563EB"/>
                </a:solidFill>
                <a:latin typeface="Times New Roman"/>
              </a:rPr>
              <a:t>🛡️ 2. Bank-Grade Encryption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0312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AES-256 at Rest: </a:t>
            </a:r>
            <a:r>
              <a:rPr sz="950">
                <a:solidFill>
                  <a:srgbClr val="1E293B"/>
                </a:solidFill>
                <a:latin typeface="Times New Roman"/>
              </a:rPr>
              <a:t>All database records, credentials, and tokens are encrypted using AES-256.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TLS 1.3 in Transit: </a:t>
            </a:r>
            <a:r>
              <a:rPr sz="950">
                <a:solidFill>
                  <a:srgbClr val="1E293B"/>
                </a:solidFill>
                <a:latin typeface="Times New Roman"/>
              </a:rPr>
              <a:t>All communication between portals, candidates, and government APIs uses TLS 1.3.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Hardware Security Module: </a:t>
            </a:r>
            <a:r>
              <a:rPr sz="950">
                <a:solidFill>
                  <a:srgbClr val="1E293B"/>
                </a:solidFill>
                <a:latin typeface="Times New Roman"/>
              </a:rPr>
              <a:t>Cryptographic keys are managed through isolated secure key vaults.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2423160" cy="5943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7C3AED"/>
                </a:solidFill>
                <a:latin typeface="Times New Roman"/>
              </a:rPr>
              <a:t>⚖️ 3. DPDP Act 2023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Explicit Digital Consent: </a:t>
            </a:r>
            <a:r>
              <a:rPr sz="950">
                <a:solidFill>
                  <a:srgbClr val="1E293B"/>
                </a:solidFill>
                <a:latin typeface="Times New Roman"/>
              </a:rPr>
              <a:t>Every candidate explicitly consents to background verification before submission.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Purpose Limitation: </a:t>
            </a:r>
            <a:r>
              <a:rPr sz="950">
                <a:solidFill>
                  <a:srgbClr val="1E293B"/>
                </a:solidFill>
                <a:latin typeface="Times New Roman"/>
              </a:rPr>
              <a:t>Data is strictly used for employer verification and never shared with third parties.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Right to Erasure: </a:t>
            </a:r>
            <a:r>
              <a:rPr sz="950">
                <a:solidFill>
                  <a:srgbClr val="1E293B"/>
                </a:solidFill>
                <a:latin typeface="Times New Roman"/>
              </a:rPr>
              <a:t>Fully compliant with Indian statutory Digital Personal Data Protection laws.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15400" y="1417320"/>
            <a:ext cx="242316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D97706"/>
                </a:solidFill>
                <a:latin typeface="Times New Roman"/>
              </a:rPr>
              <a:t>🏢 4. Multi-Tenant Data Isolation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10312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Row-Level Security (RLS): </a:t>
            </a:r>
            <a:r>
              <a:rPr sz="950">
                <a:solidFill>
                  <a:srgbClr val="1E293B"/>
                </a:solidFill>
                <a:latin typeface="Times New Roman"/>
              </a:rPr>
              <a:t>Each company's candidate data is strictly isolated with independent encryption scopes.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Role-Based Access Control: </a:t>
            </a:r>
            <a:r>
              <a:rPr sz="950">
                <a:solidFill>
                  <a:srgbClr val="1E293B"/>
                </a:solidFill>
                <a:latin typeface="Times New Roman"/>
              </a:rPr>
              <a:t>Super Admin, Company Admin, and HR Recruiters see only authorized data.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Zero Data Leakage: </a:t>
            </a:r>
            <a:r>
              <a:rPr sz="950">
                <a:solidFill>
                  <a:srgbClr val="1E293B"/>
                </a:solidFill>
                <a:latin typeface="Times New Roman"/>
              </a:rPr>
              <a:t>Guarantees no cross-tenant visibility between competing enterprise clients.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14 / 17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COMPARISON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Times New Roman"/>
              </a:rPr>
              <a:t>How JOY TRUE PROFILE is Different &amp; Better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72865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508760"/>
          <a:ext cx="10362893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815"/>
                <a:gridCol w="3749039"/>
                <a:gridCol w="3749039"/>
              </a:tblGrid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Verification Feature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Traditional Manual / Agency Method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JOY TRUE PROFILE (Automated Engine)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Times New Roman"/>
                        </a:rPr>
                        <a:t>Verification Speed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C2626"/>
                          </a:solidFill>
                          <a:latin typeface="Times New Roman"/>
                        </a:rPr>
                        <a:t>❌ 14 to 21 business days (manual emails &amp; calls)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59669"/>
                          </a:solidFill>
                          <a:latin typeface="Times New Roman"/>
                        </a:rPr>
                        <a:t>✔ Sub-45 seconds via direct government APIs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Times New Roman"/>
                        </a:rPr>
                        <a:t>Source of Truth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C2626"/>
                          </a:solidFill>
                          <a:latin typeface="Times New Roman"/>
                        </a:rPr>
                        <a:t>❌ Physical photocopies easily altered with software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59669"/>
                          </a:solidFill>
                          <a:latin typeface="Times New Roman"/>
                        </a:rPr>
                        <a:t>✔ Direct government cryptographic registries (UIDAI, NSDL, EPFO)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Times New Roman"/>
                        </a:rPr>
                        <a:t>Dual Job / Moonlighting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C2626"/>
                          </a:solidFill>
                          <a:latin typeface="Times New Roman"/>
                        </a:rPr>
                        <a:t>❌ Undetected — relies on self-reported candidate CV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59669"/>
                          </a:solidFill>
                          <a:latin typeface="Times New Roman"/>
                        </a:rPr>
                        <a:t>✔ Instant automated EPFO history analysis catches overlap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Times New Roman"/>
                        </a:rPr>
                        <a:t>Candidate Experience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C2626"/>
                          </a:solidFill>
                          <a:latin typeface="Times New Roman"/>
                        </a:rPr>
                        <a:t>❌ Heavy printing, manual forms, and paper scanning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59669"/>
                          </a:solidFill>
                          <a:latin typeface="Times New Roman"/>
                        </a:rPr>
                        <a:t>✔ Zero-install mobile web link via WhatsApp in &lt; 2 mins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Times New Roman"/>
                        </a:rPr>
                        <a:t>HR Recruiter Burden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DC2626"/>
                          </a:solidFill>
                          <a:latin typeface="Times New Roman"/>
                        </a:rPr>
                        <a:t>❌ 70% of HR time spent chasing documents &amp; agencies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59669"/>
                          </a:solidFill>
                          <a:latin typeface="Times New Roman"/>
                        </a:rPr>
                        <a:t>✔ 1-click dispatch, live tracking board, instant PDF dossier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15 / 17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Times New Roman"/>
              </a:rPr>
              <a:t>Business Value: How It Reduces Hiring Overhead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42316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⚡ 90% Faster Turnaround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Instant Clearance: </a:t>
            </a:r>
            <a:r>
              <a:rPr sz="950">
                <a:solidFill>
                  <a:srgbClr val="1E293B"/>
                </a:solidFill>
                <a:latin typeface="Times New Roman"/>
              </a:rPr>
              <a:t>Reduces candidate verification waiting time from 14 days down to under 45 seconds.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Zero Candidate Drop-off: </a:t>
            </a:r>
            <a:r>
              <a:rPr sz="950">
                <a:solidFill>
                  <a:srgbClr val="1E293B"/>
                </a:solidFill>
                <a:latin typeface="Times New Roman"/>
              </a:rPr>
              <a:t>Candidates are onboarded immediately before they explore competing offers.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Rapid Scaling: </a:t>
            </a:r>
            <a:r>
              <a:rPr sz="950">
                <a:solidFill>
                  <a:srgbClr val="1E293B"/>
                </a:solidFill>
                <a:latin typeface="Times New Roman"/>
              </a:rPr>
              <a:t>Enables high-volume hiring without adding extra HR administrative staff.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42316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563EB"/>
                </a:solidFill>
                <a:latin typeface="Times New Roman"/>
              </a:rPr>
              <a:t>💰 85% Process Cost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0312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Direct Model: </a:t>
            </a:r>
            <a:r>
              <a:rPr sz="950">
                <a:solidFill>
                  <a:srgbClr val="1E293B"/>
                </a:solidFill>
                <a:latin typeface="Times New Roman"/>
              </a:rPr>
              <a:t>Replaces expensive manual agencies with direct automated API verification.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No Physical Paperwork: </a:t>
            </a:r>
            <a:r>
              <a:rPr sz="950">
                <a:solidFill>
                  <a:srgbClr val="1E293B"/>
                </a:solidFill>
                <a:latin typeface="Times New Roman"/>
              </a:rPr>
              <a:t>Eliminates physical scanning, printing, couriers, and storage overhead.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Transparent Postpaid Billing: </a:t>
            </a:r>
            <a:r>
              <a:rPr sz="950">
                <a:solidFill>
                  <a:srgbClr val="1E293B"/>
                </a:solidFill>
                <a:latin typeface="Times New Roman"/>
              </a:rPr>
              <a:t>Pay only for verified checks with transparent monthly GST invoicing.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2423160" cy="5943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7C3AED"/>
                </a:solidFill>
                <a:latin typeface="Times New Roman"/>
              </a:rPr>
              <a:t>🛡️ 100% Audit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CLRA &amp; DPDP Compliance: </a:t>
            </a:r>
            <a:r>
              <a:rPr sz="950">
                <a:solidFill>
                  <a:srgbClr val="1E293B"/>
                </a:solidFill>
                <a:latin typeface="Times New Roman"/>
              </a:rPr>
              <a:t>Shields company from severe regulatory fines and contractor compliance penalties.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Court-Admissible Dossiers: </a:t>
            </a:r>
            <a:r>
              <a:rPr sz="950">
                <a:solidFill>
                  <a:srgbClr val="1E293B"/>
                </a:solidFill>
                <a:latin typeface="Times New Roman"/>
              </a:rPr>
              <a:t>Master PDF reports equipped with QR code and cryptographic Certificate IDs.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Instant Auditor Access: </a:t>
            </a:r>
            <a:r>
              <a:rPr sz="950">
                <a:solidFill>
                  <a:srgbClr val="1E293B"/>
                </a:solidFill>
                <a:latin typeface="Times New Roman"/>
              </a:rPr>
              <a:t>Client auditors can verify authenticity directly from their smartphones.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15400" y="1417320"/>
            <a:ext cx="242316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D97706"/>
                </a:solidFill>
                <a:latin typeface="Times New Roman"/>
              </a:rPr>
              <a:t>📱 Frictionless Candidate Delight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10312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WhatsApp Convenience: </a:t>
            </a:r>
            <a:r>
              <a:rPr sz="950">
                <a:solidFill>
                  <a:srgbClr val="1E293B"/>
                </a:solidFill>
                <a:latin typeface="Times New Roman"/>
              </a:rPr>
              <a:t>Candidates complete self-verification on mobile in under 2 minutes.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No App Downloads: </a:t>
            </a:r>
            <a:r>
              <a:rPr sz="950">
                <a:solidFill>
                  <a:srgbClr val="1E293B"/>
                </a:solidFill>
                <a:latin typeface="Times New Roman"/>
              </a:rPr>
              <a:t>Browser-based onboarding with guided camera selfie capture.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0F172A"/>
                </a:solidFill>
                <a:latin typeface="Times New Roman"/>
              </a:rPr>
              <a:t>• Respects Privacy: </a:t>
            </a:r>
            <a:r>
              <a:rPr sz="950">
                <a:solidFill>
                  <a:srgbClr val="1E293B"/>
                </a:solidFill>
                <a:latin typeface="Times New Roman"/>
              </a:rPr>
              <a:t>Candidate data is protected under India's DPDP Act 2023 guidelines.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16 / 17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10728655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1188720"/>
            <a:ext cx="1828800" cy="21147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310896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Times New Roman"/>
              </a:rPr>
              <a:t>Thank You!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2563EB"/>
                </a:solidFill>
                <a:latin typeface="Times New Roman"/>
              </a:rPr>
              <a:t>JOY TRUE PROFILE — Building Trust Through Direct Digital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4389120"/>
            <a:ext cx="8168335" cy="1280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59669"/>
                </a:solidFill>
                <a:latin typeface="Times New Roman"/>
              </a:rPr>
              <a:t>“Transforming background verification with sub-45-second speed, zero paperwork, and complete data safety.”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1E293B"/>
                </a:solidFill>
                <a:latin typeface="Times New Roman"/>
              </a:rPr>
              <a:t>Empowering HR teams, enterprises, and candidates across India.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Times New Roman"/>
              </a:rPr>
              <a:t>JOY TRUE PROFILE  •  Next-Gen Workforce &amp; Vendor Verification  •  Confidential Enterprise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Times New Roman"/>
              </a:rPr>
              <a:t>17 / 17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